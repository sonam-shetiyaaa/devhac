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0"/>
  </p:handoutMasterIdLst>
  <p:sldIdLst>
    <p:sldId id="256" r:id="rId2"/>
    <p:sldId id="257" r:id="rId3"/>
    <p:sldId id="258" r:id="rId4"/>
    <p:sldId id="259" r:id="rId5"/>
    <p:sldId id="260"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notesViewPr>
    <p:cSldViewPr snapToGrid="0">
      <p:cViewPr varScale="1">
        <p:scale>
          <a:sx n="72" d="100"/>
          <a:sy n="72" d="100"/>
        </p:scale>
        <p:origin x="301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0D8FC9-371B-41E1-AA20-5B041C98FC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C5F8F02-1CAA-07EE-E0CD-6CF7AD5BEF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71B906-B59F-4412-899A-C8D49605ADDF}" type="datetimeFigureOut">
              <a:rPr lang="en-US" smtClean="0"/>
              <a:t>10/23/2026</a:t>
            </a:fld>
            <a:endParaRPr lang="en-US"/>
          </a:p>
        </p:txBody>
      </p:sp>
      <p:sp>
        <p:nvSpPr>
          <p:cNvPr id="4" name="Footer Placeholder 3">
            <a:extLst>
              <a:ext uri="{FF2B5EF4-FFF2-40B4-BE49-F238E27FC236}">
                <a16:creationId xmlns:a16="http://schemas.microsoft.com/office/drawing/2014/main" id="{FC84FA0A-C9C4-FDB7-CB5A-B3EFB8F4AD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DFAC111-1FD2-3A0E-D3C6-D3F02A01F54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F25163-D9AD-44AF-B95E-BE7653A62C99}" type="slidenum">
              <a:rPr lang="en-US" smtClean="0"/>
              <a:t>‹#›</a:t>
            </a:fld>
            <a:endParaRPr lang="en-US"/>
          </a:p>
        </p:txBody>
      </p:sp>
    </p:spTree>
    <p:extLst>
      <p:ext uri="{BB962C8B-B14F-4D97-AF65-F5344CB8AC3E}">
        <p14:creationId xmlns:p14="http://schemas.microsoft.com/office/powerpoint/2010/main" val="268206395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13A38-66CA-5207-8594-DF33399B87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2F7F17-28A8-B45D-917C-02549D60F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1553CB-F3E9-8EE4-D62A-A202EC1ECF07}"/>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5" name="Footer Placeholder 4">
            <a:extLst>
              <a:ext uri="{FF2B5EF4-FFF2-40B4-BE49-F238E27FC236}">
                <a16:creationId xmlns:a16="http://schemas.microsoft.com/office/drawing/2014/main" id="{0D1F65D0-D6B9-8423-0763-D1B862222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723883-18AD-70DA-75E3-F00ECF9DBC98}"/>
              </a:ext>
            </a:extLst>
          </p:cNvPr>
          <p:cNvSpPr>
            <a:spLocks noGrp="1"/>
          </p:cNvSpPr>
          <p:nvPr>
            <p:ph type="sldNum" sz="quarter" idx="12"/>
          </p:nvPr>
        </p:nvSpPr>
        <p:spPr/>
        <p:txBody>
          <a:bodyPr/>
          <a:lstStyle/>
          <a:p>
            <a:fld id="{43FEA0BE-36D4-44E2-81E4-55948FD1CE24}" type="slidenum">
              <a:rPr lang="en-US" smtClean="0"/>
              <a:t>‹#›</a:t>
            </a:fld>
            <a:endParaRPr lang="en-US"/>
          </a:p>
        </p:txBody>
      </p:sp>
      <p:cxnSp>
        <p:nvCxnSpPr>
          <p:cNvPr id="9" name="Straight Connector 8">
            <a:extLst>
              <a:ext uri="{FF2B5EF4-FFF2-40B4-BE49-F238E27FC236}">
                <a16:creationId xmlns:a16="http://schemas.microsoft.com/office/drawing/2014/main" id="{AEB508E6-ECEB-1D8B-C671-26BC9330F108}"/>
              </a:ext>
            </a:extLst>
          </p:cNvPr>
          <p:cNvCxnSpPr/>
          <p:nvPr userDrawn="1"/>
        </p:nvCxnSpPr>
        <p:spPr>
          <a:xfrm>
            <a:off x="1423283" y="222637"/>
            <a:ext cx="0" cy="803081"/>
          </a:xfrm>
          <a:prstGeom prst="line">
            <a:avLst/>
          </a:prstGeom>
        </p:spPr>
        <p:style>
          <a:lnRef idx="2">
            <a:schemeClr val="dk1"/>
          </a:lnRef>
          <a:fillRef idx="0">
            <a:schemeClr val="dk1"/>
          </a:fillRef>
          <a:effectRef idx="1">
            <a:schemeClr val="dk1"/>
          </a:effectRef>
          <a:fontRef idx="minor">
            <a:schemeClr val="tx1"/>
          </a:fontRef>
        </p:style>
      </p:cxnSp>
      <p:pic>
        <p:nvPicPr>
          <p:cNvPr id="11" name="Picture 10">
            <a:extLst>
              <a:ext uri="{FF2B5EF4-FFF2-40B4-BE49-F238E27FC236}">
                <a16:creationId xmlns:a16="http://schemas.microsoft.com/office/drawing/2014/main" id="{FFC21EB7-213F-B75C-2FD2-5E629C9B3754}"/>
              </a:ext>
            </a:extLst>
          </p:cNvPr>
          <p:cNvPicPr>
            <a:picLocks noChangeAspect="1"/>
          </p:cNvPicPr>
          <p:nvPr userDrawn="1"/>
        </p:nvPicPr>
        <p:blipFill>
          <a:blip r:embed="rId2"/>
          <a:stretch>
            <a:fillRect/>
          </a:stretch>
        </p:blipFill>
        <p:spPr>
          <a:xfrm>
            <a:off x="10917803" y="333071"/>
            <a:ext cx="1017467" cy="582212"/>
          </a:xfrm>
          <a:prstGeom prst="rect">
            <a:avLst/>
          </a:prstGeom>
        </p:spPr>
      </p:pic>
      <p:pic>
        <p:nvPicPr>
          <p:cNvPr id="15" name="Picture 14">
            <a:extLst>
              <a:ext uri="{FF2B5EF4-FFF2-40B4-BE49-F238E27FC236}">
                <a16:creationId xmlns:a16="http://schemas.microsoft.com/office/drawing/2014/main" id="{180540D8-9D6B-5DAC-3B69-4A4115A783B4}"/>
              </a:ext>
            </a:extLst>
          </p:cNvPr>
          <p:cNvPicPr>
            <a:picLocks noChangeAspect="1"/>
          </p:cNvPicPr>
          <p:nvPr userDrawn="1"/>
        </p:nvPicPr>
        <p:blipFill>
          <a:blip r:embed="rId3"/>
          <a:stretch>
            <a:fillRect/>
          </a:stretch>
        </p:blipFill>
        <p:spPr>
          <a:xfrm>
            <a:off x="1554480" y="388851"/>
            <a:ext cx="910726" cy="583911"/>
          </a:xfrm>
          <a:prstGeom prst="rect">
            <a:avLst/>
          </a:prstGeom>
        </p:spPr>
      </p:pic>
      <p:cxnSp>
        <p:nvCxnSpPr>
          <p:cNvPr id="16" name="Straight Connector 15">
            <a:extLst>
              <a:ext uri="{FF2B5EF4-FFF2-40B4-BE49-F238E27FC236}">
                <a16:creationId xmlns:a16="http://schemas.microsoft.com/office/drawing/2014/main" id="{6FE61101-749D-FEED-4B18-1AF8279A2473}"/>
              </a:ext>
            </a:extLst>
          </p:cNvPr>
          <p:cNvCxnSpPr/>
          <p:nvPr userDrawn="1"/>
        </p:nvCxnSpPr>
        <p:spPr>
          <a:xfrm>
            <a:off x="10799196" y="222637"/>
            <a:ext cx="0" cy="803081"/>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1219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400B1-B2BD-D53A-6440-7A87E1EE09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43169D-BB73-4ABE-987D-8856D8759C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E0A1B-7076-FA3B-D9D1-1556803B265D}"/>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5" name="Footer Placeholder 4">
            <a:extLst>
              <a:ext uri="{FF2B5EF4-FFF2-40B4-BE49-F238E27FC236}">
                <a16:creationId xmlns:a16="http://schemas.microsoft.com/office/drawing/2014/main" id="{9A899D68-3A35-27FA-9F5C-3F4F11C02F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D346B9-BD72-6DF9-CE1B-678B77D17DC8}"/>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2371119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B2D0A-7DEC-371D-0100-24A840F4C6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174B5D-C3C9-92E9-7A9C-B2B91F90D4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25C07-CE2A-A8D1-B342-32F8C2531CFB}"/>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5" name="Footer Placeholder 4">
            <a:extLst>
              <a:ext uri="{FF2B5EF4-FFF2-40B4-BE49-F238E27FC236}">
                <a16:creationId xmlns:a16="http://schemas.microsoft.com/office/drawing/2014/main" id="{7541E021-BF63-6C61-D20E-631E2FB821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F36FD-53F3-1C0D-69FF-282FF1CEB8E6}"/>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1892827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3D51-FB3F-F054-9A45-A1E40ED633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F1E86D-444D-F2F3-AEB0-4163DD1E2C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EC69F0-314F-C6DD-C99C-B3E6E46030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FB6914-37B3-5B44-05FD-ED4B03C6A12C}"/>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6" name="Footer Placeholder 5">
            <a:extLst>
              <a:ext uri="{FF2B5EF4-FFF2-40B4-BE49-F238E27FC236}">
                <a16:creationId xmlns:a16="http://schemas.microsoft.com/office/drawing/2014/main" id="{44351F49-5123-6305-83DC-01DAA52466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DBF4BD-79BD-4A9A-0B24-F5309A7248D4}"/>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2744157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F2667-5976-9D4B-3DF6-444A7611CE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9E9A53-CD23-0637-8F19-FD96375E8F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F23A88-78D5-3801-9957-11EBEEC61B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090F4B-54B7-22EA-D164-36F3F63542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0A2A8F-7801-58E0-CEB8-19EB738C8F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8E9FCE-91B9-BCB3-6950-C5D6E0FD5295}"/>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8" name="Footer Placeholder 7">
            <a:extLst>
              <a:ext uri="{FF2B5EF4-FFF2-40B4-BE49-F238E27FC236}">
                <a16:creationId xmlns:a16="http://schemas.microsoft.com/office/drawing/2014/main" id="{AFFD00CA-6A2A-37B9-C8CC-9F1E833CFC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E3EBC9-E2EA-76DD-3720-B4FD982139AD}"/>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2319391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DE433-55F7-1A17-5EDD-67ABAC9306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DECDE7-7CFF-F26F-91A0-CC3CA2BCFC0F}"/>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4" name="Footer Placeholder 3">
            <a:extLst>
              <a:ext uri="{FF2B5EF4-FFF2-40B4-BE49-F238E27FC236}">
                <a16:creationId xmlns:a16="http://schemas.microsoft.com/office/drawing/2014/main" id="{782CFE13-7FDF-DDF5-B614-ADFF10D345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8E8D90-15AC-A484-4A90-FA6BD24EDF33}"/>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2517054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51D4CA-1F70-0C38-A409-6DCB3F878313}"/>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3" name="Footer Placeholder 2">
            <a:extLst>
              <a:ext uri="{FF2B5EF4-FFF2-40B4-BE49-F238E27FC236}">
                <a16:creationId xmlns:a16="http://schemas.microsoft.com/office/drawing/2014/main" id="{C265E1F1-3DCE-A585-2AD0-4E3E2A597B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2C332E-3603-1AAD-F350-3CDA94E79F98}"/>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202979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01C8-EA8E-6050-5A76-4212D55A23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8C41DB-034C-9AF5-67A0-E9A0DCDA9A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F5A71E-FBA3-434B-33C7-DD7121C70E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116567-5096-9191-6832-6645C1465C35}"/>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6" name="Footer Placeholder 5">
            <a:extLst>
              <a:ext uri="{FF2B5EF4-FFF2-40B4-BE49-F238E27FC236}">
                <a16:creationId xmlns:a16="http://schemas.microsoft.com/office/drawing/2014/main" id="{0E64087D-FD9D-CECF-6AA3-4100CF7A58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B48D20-479A-CF80-DC02-90D46A9CE42E}"/>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2294100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DDA00-2FB0-9FD9-4A92-EDD3C01B6A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56172FD-65F7-DB45-6327-C15DECD5EF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3FA44A-947F-BFD5-ED6F-DE4CA3E42E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1AE7C1-AFA6-C94B-FF6E-BDB4CECC5959}"/>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6" name="Footer Placeholder 5">
            <a:extLst>
              <a:ext uri="{FF2B5EF4-FFF2-40B4-BE49-F238E27FC236}">
                <a16:creationId xmlns:a16="http://schemas.microsoft.com/office/drawing/2014/main" id="{C628E551-0014-36DA-E98A-1AEB37DC98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0EE043-D88A-AEB1-036D-F2593213A6CE}"/>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1751319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1E4B9-9888-E4E2-AE27-2236F59610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5BB5F8-D788-A1EC-B3A1-C022EFA560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9D051-7632-7C7F-7F9D-FA341439892D}"/>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5" name="Footer Placeholder 4">
            <a:extLst>
              <a:ext uri="{FF2B5EF4-FFF2-40B4-BE49-F238E27FC236}">
                <a16:creationId xmlns:a16="http://schemas.microsoft.com/office/drawing/2014/main" id="{DEF514A3-E474-7112-8AAA-CF913FB3B4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CDD1C8-E7CA-8351-5816-FC717BEE0C07}"/>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2223057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C3F7FA-CC03-FE2E-EC0A-21DA54AB91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91B52-1BB4-DADE-B293-7585A2CD38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8B6A0A-C9DC-9030-44DD-823F342ACA6C}"/>
              </a:ext>
            </a:extLst>
          </p:cNvPr>
          <p:cNvSpPr>
            <a:spLocks noGrp="1"/>
          </p:cNvSpPr>
          <p:nvPr>
            <p:ph type="dt" sz="half" idx="10"/>
          </p:nvPr>
        </p:nvSpPr>
        <p:spPr/>
        <p:txBody>
          <a:bodyPr/>
          <a:lstStyle/>
          <a:p>
            <a:fld id="{4BA7DF4C-4AEB-472C-8637-46F322496C4B}" type="datetimeFigureOut">
              <a:rPr lang="en-US" smtClean="0"/>
              <a:t>10/23/2026</a:t>
            </a:fld>
            <a:endParaRPr lang="en-US"/>
          </a:p>
        </p:txBody>
      </p:sp>
      <p:sp>
        <p:nvSpPr>
          <p:cNvPr id="5" name="Footer Placeholder 4">
            <a:extLst>
              <a:ext uri="{FF2B5EF4-FFF2-40B4-BE49-F238E27FC236}">
                <a16:creationId xmlns:a16="http://schemas.microsoft.com/office/drawing/2014/main" id="{3CF5EA07-D7C7-A3C5-FE55-B0909A5BEA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FC97F-EF65-F927-CF59-1A69591225E0}"/>
              </a:ext>
            </a:extLst>
          </p:cNvPr>
          <p:cNvSpPr>
            <a:spLocks noGrp="1"/>
          </p:cNvSpPr>
          <p:nvPr>
            <p:ph type="sldNum" sz="quarter" idx="12"/>
          </p:nvPr>
        </p:nvSpPr>
        <p:spPr/>
        <p:txBody>
          <a:bodyPr/>
          <a:lstStyle/>
          <a:p>
            <a:fld id="{43FEA0BE-36D4-44E2-81E4-55948FD1CE24}" type="slidenum">
              <a:rPr lang="en-US" smtClean="0"/>
              <a:t>‹#›</a:t>
            </a:fld>
            <a:endParaRPr lang="en-US"/>
          </a:p>
        </p:txBody>
      </p:sp>
    </p:spTree>
    <p:extLst>
      <p:ext uri="{BB962C8B-B14F-4D97-AF65-F5344CB8AC3E}">
        <p14:creationId xmlns:p14="http://schemas.microsoft.com/office/powerpoint/2010/main" val="3785846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ED0090-43B4-7D9E-4E1B-8D7065DD24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6EF72735-98F1-9132-2A9F-93FDC00810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FEFA44-ACDC-3319-BF0F-830F7FA059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A7DF4C-4AEB-472C-8637-46F322496C4B}" type="datetimeFigureOut">
              <a:rPr lang="en-US" smtClean="0"/>
              <a:t>10/23/2026</a:t>
            </a:fld>
            <a:endParaRPr lang="en-US"/>
          </a:p>
        </p:txBody>
      </p:sp>
      <p:sp>
        <p:nvSpPr>
          <p:cNvPr id="5" name="Footer Placeholder 4">
            <a:extLst>
              <a:ext uri="{FF2B5EF4-FFF2-40B4-BE49-F238E27FC236}">
                <a16:creationId xmlns:a16="http://schemas.microsoft.com/office/drawing/2014/main" id="{01594C8F-F3AD-5051-1FCB-6949BF24DD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B1E74A-A99E-6A7F-C875-C769E02DAF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FEA0BE-36D4-44E2-81E4-55948FD1CE24}" type="slidenum">
              <a:rPr lang="en-US" smtClean="0"/>
              <a:t>‹#›</a:t>
            </a:fld>
            <a:endParaRPr lang="en-US"/>
          </a:p>
        </p:txBody>
      </p:sp>
      <p:pic>
        <p:nvPicPr>
          <p:cNvPr id="7" name="Picture 6">
            <a:extLst>
              <a:ext uri="{FF2B5EF4-FFF2-40B4-BE49-F238E27FC236}">
                <a16:creationId xmlns:a16="http://schemas.microsoft.com/office/drawing/2014/main" id="{FDC7CB0F-68F4-4150-1A96-182E0FAE4E7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65205" y="365125"/>
            <a:ext cx="678388" cy="606979"/>
          </a:xfrm>
          <a:prstGeom prst="rect">
            <a:avLst/>
          </a:prstGeom>
        </p:spPr>
      </p:pic>
      <p:pic>
        <p:nvPicPr>
          <p:cNvPr id="8" name="Picture 7">
            <a:extLst>
              <a:ext uri="{FF2B5EF4-FFF2-40B4-BE49-F238E27FC236}">
                <a16:creationId xmlns:a16="http://schemas.microsoft.com/office/drawing/2014/main" id="{1B272E27-BDEC-EA57-4A9E-E1D0716CD929}"/>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982200" y="365125"/>
            <a:ext cx="678388" cy="504114"/>
          </a:xfrm>
          <a:prstGeom prst="rect">
            <a:avLst/>
          </a:prstGeom>
        </p:spPr>
      </p:pic>
    </p:spTree>
    <p:extLst>
      <p:ext uri="{BB962C8B-B14F-4D97-AF65-F5344CB8AC3E}">
        <p14:creationId xmlns:p14="http://schemas.microsoft.com/office/powerpoint/2010/main" val="3308202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D0DC5D-11C4-C9DF-27E2-8716601E57DB}"/>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FFE380FD-DD91-ABAC-3C68-A6B518EF2909}"/>
              </a:ext>
            </a:extLst>
          </p:cNvPr>
          <p:cNvSpPr>
            <a:spLocks noGrp="1"/>
          </p:cNvSpPr>
          <p:nvPr>
            <p:ph type="subTitle" idx="1"/>
          </p:nvPr>
        </p:nvSpPr>
        <p:spPr>
          <a:xfrm>
            <a:off x="1524000" y="3920066"/>
            <a:ext cx="9144000" cy="1803419"/>
          </a:xfrm>
        </p:spPr>
        <p:txBody>
          <a:bodyPr>
            <a:normAutofit fontScale="92500" lnSpcReduction="20000"/>
          </a:bodyPr>
          <a:lstStyle/>
          <a:p>
            <a:pPr algn="l">
              <a:lnSpc>
                <a:spcPct val="160000"/>
              </a:lnSpc>
            </a:pPr>
            <a:r>
              <a:rPr lang="en-IN" b="1" dirty="0">
                <a:solidFill>
                  <a:schemeClr val="bg1"/>
                </a:solidFill>
                <a:latin typeface="Times New Roman" panose="02020603050405020304" pitchFamily="18" charset="0"/>
                <a:cs typeface="Times New Roman" panose="02020603050405020304" pitchFamily="18" charset="0"/>
              </a:rPr>
              <a:t>Team Leader Email: shreesha165@gmail.com</a:t>
            </a:r>
            <a:endParaRPr lang="en-IN" b="1" dirty="0">
              <a:solidFill>
                <a:schemeClr val="bg1"/>
              </a:solidFill>
              <a:effectLst/>
              <a:latin typeface="Times New Roman" panose="02020603050405020304" pitchFamily="18" charset="0"/>
              <a:cs typeface="Times New Roman" panose="02020603050405020304" pitchFamily="18" charset="0"/>
            </a:endParaRPr>
          </a:p>
          <a:p>
            <a:pPr algn="l">
              <a:lnSpc>
                <a:spcPct val="160000"/>
              </a:lnSpc>
            </a:pPr>
            <a:r>
              <a:rPr lang="en-IN" b="1" dirty="0">
                <a:solidFill>
                  <a:schemeClr val="bg1"/>
                </a:solidFill>
                <a:latin typeface="Times New Roman" panose="02020603050405020304" pitchFamily="18" charset="0"/>
                <a:cs typeface="Times New Roman" panose="02020603050405020304" pitchFamily="18" charset="0"/>
              </a:rPr>
              <a:t>Team Leader Phone:9353438718</a:t>
            </a:r>
            <a:endParaRPr lang="en-IN" b="1" dirty="0">
              <a:solidFill>
                <a:schemeClr val="bg1"/>
              </a:solidFill>
              <a:effectLst/>
              <a:latin typeface="Times New Roman" panose="02020603050405020304" pitchFamily="18" charset="0"/>
              <a:cs typeface="Times New Roman" panose="02020603050405020304" pitchFamily="18" charset="0"/>
            </a:endParaRPr>
          </a:p>
          <a:p>
            <a:pPr algn="l">
              <a:lnSpc>
                <a:spcPct val="160000"/>
              </a:lnSpc>
            </a:pPr>
            <a:r>
              <a:rPr lang="en-IN" b="1" dirty="0">
                <a:solidFill>
                  <a:schemeClr val="bg1"/>
                </a:solidFill>
                <a:latin typeface="Times New Roman" panose="02020603050405020304" pitchFamily="18" charset="0"/>
                <a:cs typeface="Times New Roman" panose="02020603050405020304" pitchFamily="18" charset="0"/>
              </a:rPr>
              <a:t>College Name: Canara Engineering College</a:t>
            </a:r>
            <a:endParaRPr lang="en-IN" b="1" dirty="0">
              <a:solidFill>
                <a:schemeClr val="bg1"/>
              </a:solidFill>
              <a:effectLst/>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p:txBody>
      </p:sp>
      <p:sp>
        <p:nvSpPr>
          <p:cNvPr id="16" name="TextBox 5">
            <a:extLst>
              <a:ext uri="{FF2B5EF4-FFF2-40B4-BE49-F238E27FC236}">
                <a16:creationId xmlns:a16="http://schemas.microsoft.com/office/drawing/2014/main" id="{DF891B9B-81DD-436B-51FC-CEE226DA709D}"/>
              </a:ext>
            </a:extLst>
          </p:cNvPr>
          <p:cNvSpPr txBox="1"/>
          <p:nvPr/>
        </p:nvSpPr>
        <p:spPr>
          <a:xfrm>
            <a:off x="3142704" y="1955730"/>
            <a:ext cx="6512689"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solidFill>
                <a:schemeClr val="bg1"/>
              </a:solidFill>
              <a:latin typeface="Times New Roman" panose="02020603050405020304" pitchFamily="18" charset="0"/>
              <a:cs typeface="Times New Roman" panose="02020603050405020304" pitchFamily="18" charset="0"/>
            </a:endParaRPr>
          </a:p>
        </p:txBody>
      </p:sp>
      <p:sp>
        <p:nvSpPr>
          <p:cNvPr id="17" name="TextBox 7">
            <a:extLst>
              <a:ext uri="{FF2B5EF4-FFF2-40B4-BE49-F238E27FC236}">
                <a16:creationId xmlns:a16="http://schemas.microsoft.com/office/drawing/2014/main" id="{505679A8-3F54-2863-9C19-E488D1605AD9}"/>
              </a:ext>
            </a:extLst>
          </p:cNvPr>
          <p:cNvSpPr txBox="1"/>
          <p:nvPr/>
        </p:nvSpPr>
        <p:spPr>
          <a:xfrm>
            <a:off x="3142704" y="1955730"/>
            <a:ext cx="6512689"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solidFill>
                <a:schemeClr val="bg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49B69A94-D75B-7B2B-B67D-0B4D7DFFED09}"/>
              </a:ext>
            </a:extLst>
          </p:cNvPr>
          <p:cNvSpPr>
            <a:spLocks noChangeArrowheads="1"/>
          </p:cNvSpPr>
          <p:nvPr/>
        </p:nvSpPr>
        <p:spPr bwMode="auto">
          <a:xfrm>
            <a:off x="2248740" y="263935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solidFill>
                <a:schemeClr val="bg1"/>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F0E93559-D635-F69B-FF49-D70AFA437F54}"/>
              </a:ext>
            </a:extLst>
          </p:cNvPr>
          <p:cNvSpPr txBox="1"/>
          <p:nvPr/>
        </p:nvSpPr>
        <p:spPr>
          <a:xfrm>
            <a:off x="4785783" y="1365127"/>
            <a:ext cx="352848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BitVault4</a:t>
            </a:r>
          </a:p>
        </p:txBody>
      </p:sp>
      <p:graphicFrame>
        <p:nvGraphicFramePr>
          <p:cNvPr id="5" name="Table 4">
            <a:extLst>
              <a:ext uri="{FF2B5EF4-FFF2-40B4-BE49-F238E27FC236}">
                <a16:creationId xmlns:a16="http://schemas.microsoft.com/office/drawing/2014/main" id="{8B7FC1CE-1D44-D1A3-467D-AD35DEE19B15}"/>
              </a:ext>
            </a:extLst>
          </p:cNvPr>
          <p:cNvGraphicFramePr>
            <a:graphicFrameLocks noGrp="1"/>
          </p:cNvGraphicFramePr>
          <p:nvPr>
            <p:extLst>
              <p:ext uri="{D42A27DB-BD31-4B8C-83A1-F6EECF244321}">
                <p14:modId xmlns:p14="http://schemas.microsoft.com/office/powerpoint/2010/main" val="1287575491"/>
              </p:ext>
            </p:extLst>
          </p:nvPr>
        </p:nvGraphicFramePr>
        <p:xfrm>
          <a:off x="1815260" y="2112988"/>
          <a:ext cx="8128000" cy="14833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1101820034"/>
                    </a:ext>
                  </a:extLst>
                </a:gridCol>
                <a:gridCol w="4064000">
                  <a:extLst>
                    <a:ext uri="{9D8B030D-6E8A-4147-A177-3AD203B41FA5}">
                      <a16:colId xmlns:a16="http://schemas.microsoft.com/office/drawing/2014/main" val="3252286190"/>
                    </a:ext>
                  </a:extLst>
                </a:gridCol>
              </a:tblGrid>
              <a:tr h="370840">
                <a:tc>
                  <a:txBody>
                    <a:bodyPr/>
                    <a:lstStyle/>
                    <a:p>
                      <a:r>
                        <a:rPr lang="en-US" b="1" dirty="0">
                          <a:solidFill>
                            <a:schemeClr val="bg1"/>
                          </a:solidFill>
                          <a:latin typeface="Times New Roman" panose="02020603050405020304" pitchFamily="18" charset="0"/>
                          <a:cs typeface="Times New Roman" panose="02020603050405020304" pitchFamily="18" charset="0"/>
                        </a:rPr>
                        <a:t>Member</a:t>
                      </a:r>
                      <a:r>
                        <a:rPr lang="en-US" b="1" dirty="0">
                          <a:solidFill>
                            <a:schemeClr val="bg1"/>
                          </a:solidFill>
                        </a:rPr>
                        <a:t> 1</a:t>
                      </a:r>
                      <a:endParaRPr lang="en-IN" b="1" dirty="0">
                        <a:solidFill>
                          <a:schemeClr val="bg1"/>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r>
                        <a:rPr lang="en-IN" dirty="0">
                          <a:solidFill>
                            <a:schemeClr val="bg1"/>
                          </a:solidFill>
                        </a:rPr>
                        <a:t>Shreesha Kavya Prakash</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04683181"/>
                  </a:ext>
                </a:extLst>
              </a:tr>
              <a:tr h="370840">
                <a:tc>
                  <a:txBody>
                    <a:bodyPr/>
                    <a:lstStyle/>
                    <a:p>
                      <a:r>
                        <a:rPr lang="en-US" b="1" dirty="0">
                          <a:solidFill>
                            <a:schemeClr val="bg1"/>
                          </a:solidFill>
                          <a:latin typeface="Times New Roman" panose="02020603050405020304" pitchFamily="18" charset="0"/>
                          <a:cs typeface="Times New Roman" panose="02020603050405020304" pitchFamily="18" charset="0"/>
                        </a:rPr>
                        <a:t>Member</a:t>
                      </a:r>
                      <a:r>
                        <a:rPr lang="en-US" b="1" dirty="0">
                          <a:solidFill>
                            <a:schemeClr val="bg1"/>
                          </a:solidFill>
                        </a:rPr>
                        <a:t> 2</a:t>
                      </a:r>
                      <a:endParaRPr lang="en-IN" b="1" dirty="0">
                        <a:solidFill>
                          <a:schemeClr val="bg1"/>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r>
                        <a:rPr lang="en-IN" dirty="0">
                          <a:solidFill>
                            <a:schemeClr val="bg1"/>
                          </a:solidFill>
                        </a:rPr>
                        <a:t>Sahan H A</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501056684"/>
                  </a:ext>
                </a:extLst>
              </a:tr>
              <a:tr h="370840">
                <a:tc>
                  <a:txBody>
                    <a:bodyPr/>
                    <a:lstStyle/>
                    <a:p>
                      <a:r>
                        <a:rPr lang="en-US" b="1" dirty="0">
                          <a:solidFill>
                            <a:schemeClr val="bg1"/>
                          </a:solidFill>
                          <a:latin typeface="Times New Roman" panose="02020603050405020304" pitchFamily="18" charset="0"/>
                          <a:cs typeface="Times New Roman" panose="02020603050405020304" pitchFamily="18" charset="0"/>
                        </a:rPr>
                        <a:t>Member</a:t>
                      </a:r>
                      <a:r>
                        <a:rPr lang="en-US" b="1" dirty="0">
                          <a:solidFill>
                            <a:schemeClr val="bg1"/>
                          </a:solidFill>
                        </a:rPr>
                        <a:t> 3</a:t>
                      </a:r>
                      <a:endParaRPr lang="en-IN" b="1" dirty="0">
                        <a:solidFill>
                          <a:schemeClr val="bg1"/>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r>
                        <a:rPr lang="en-IN" dirty="0">
                          <a:solidFill>
                            <a:schemeClr val="bg1"/>
                          </a:solidFill>
                        </a:rPr>
                        <a:t>Sonam Prashant </a:t>
                      </a:r>
                      <a:r>
                        <a:rPr lang="en-IN" dirty="0" err="1">
                          <a:solidFill>
                            <a:schemeClr val="bg1"/>
                          </a:solidFill>
                        </a:rPr>
                        <a:t>Shetiya</a:t>
                      </a:r>
                      <a:endParaRPr lang="en-IN" dirty="0">
                        <a:solidFill>
                          <a:schemeClr val="bg1"/>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655563399"/>
                  </a:ext>
                </a:extLst>
              </a:tr>
              <a:tr h="370840">
                <a:tc>
                  <a:txBody>
                    <a:bodyPr/>
                    <a:lstStyle/>
                    <a:p>
                      <a:r>
                        <a:rPr lang="en-US" b="1" dirty="0">
                          <a:solidFill>
                            <a:schemeClr val="bg1"/>
                          </a:solidFill>
                          <a:latin typeface="Times New Roman" panose="02020603050405020304" pitchFamily="18" charset="0"/>
                          <a:cs typeface="Times New Roman" panose="02020603050405020304" pitchFamily="18" charset="0"/>
                        </a:rPr>
                        <a:t>Member</a:t>
                      </a:r>
                      <a:r>
                        <a:rPr lang="en-US" b="1" dirty="0">
                          <a:solidFill>
                            <a:schemeClr val="bg1"/>
                          </a:solidFill>
                        </a:rPr>
                        <a:t> 4</a:t>
                      </a:r>
                      <a:endParaRPr lang="en-IN" b="1" dirty="0">
                        <a:solidFill>
                          <a:schemeClr val="bg1"/>
                        </a:solidFill>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tc>
                  <a:txBody>
                    <a:bodyPr/>
                    <a:lstStyle/>
                    <a:p>
                      <a:r>
                        <a:rPr lang="en-IN" dirty="0">
                          <a:solidFill>
                            <a:schemeClr val="bg1"/>
                          </a:solidFill>
                        </a:rPr>
                        <a:t>Shiva Kumar</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51233898"/>
                  </a:ext>
                </a:extLst>
              </a:tr>
            </a:tbl>
          </a:graphicData>
        </a:graphic>
      </p:graphicFrame>
      <p:sp>
        <p:nvSpPr>
          <p:cNvPr id="6" name="TextBox 5">
            <a:extLst>
              <a:ext uri="{FF2B5EF4-FFF2-40B4-BE49-F238E27FC236}">
                <a16:creationId xmlns:a16="http://schemas.microsoft.com/office/drawing/2014/main" id="{E1DEEC1F-EF02-4AF7-035D-5041F957B422}"/>
              </a:ext>
            </a:extLst>
          </p:cNvPr>
          <p:cNvSpPr txBox="1"/>
          <p:nvPr/>
        </p:nvSpPr>
        <p:spPr>
          <a:xfrm>
            <a:off x="1524000" y="5723485"/>
            <a:ext cx="6094476" cy="430887"/>
          </a:xfrm>
          <a:prstGeom prst="rect">
            <a:avLst/>
          </a:prstGeom>
          <a:noFill/>
        </p:spPr>
        <p:txBody>
          <a:bodyPr wrap="square">
            <a:spAutoFit/>
          </a:bodyPr>
          <a:lstStyle/>
          <a:p>
            <a:r>
              <a:rPr lang="en-US" sz="2200" b="1" dirty="0">
                <a:solidFill>
                  <a:schemeClr val="bg1"/>
                </a:solidFill>
                <a:latin typeface="Times New Roman" panose="02020603050405020304" pitchFamily="18" charset="0"/>
                <a:cs typeface="Times New Roman" panose="02020603050405020304" pitchFamily="18" charset="0"/>
              </a:rPr>
              <a:t>Problem Statement ID: 4.1</a:t>
            </a:r>
            <a:endParaRPr lang="en-IN" sz="22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0717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1D90B-5D51-7667-3C70-9D6AB651EF2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921E2B2-D287-1460-AAB3-924FC2381D50}"/>
              </a:ext>
            </a:extLst>
          </p:cNvPr>
          <p:cNvSpPr txBox="1"/>
          <p:nvPr/>
        </p:nvSpPr>
        <p:spPr>
          <a:xfrm>
            <a:off x="541189" y="1494703"/>
            <a:ext cx="1127760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Problem Statement</a:t>
            </a:r>
          </a:p>
        </p:txBody>
      </p:sp>
      <p:sp>
        <p:nvSpPr>
          <p:cNvPr id="2" name="TextBox 1"/>
          <p:cNvSpPr txBox="1"/>
          <p:nvPr/>
        </p:nvSpPr>
        <p:spPr>
          <a:xfrm>
            <a:off x="541189" y="2141034"/>
            <a:ext cx="7248293" cy="397031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Issues like flight delays or cancellations, train delays or cancellations and hotel delays or cancellations may limit the time available for the traveler and increase the number of decisions to be made. Finding a proper solution for the travel problem might be quite difficult due to constraints on time, budget, destination, and dependencies between various bookings.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problem is to create an AI-based travel recovery agent, which would be capable of:</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Recognizing or generating travel issues and identifying impacted bookings.  </a:t>
            </a:r>
          </a:p>
          <a:p>
            <a:r>
              <a:rPr lang="en-US" dirty="0">
                <a:latin typeface="Times New Roman" panose="02020603050405020304" pitchFamily="18" charset="0"/>
                <a:cs typeface="Times New Roman" panose="02020603050405020304" pitchFamily="18" charset="0"/>
              </a:rPr>
              <a:t>• Understanding traveler constraints such as budget, time, and destination.  </a:t>
            </a:r>
          </a:p>
          <a:p>
            <a:r>
              <a:rPr lang="en-US" dirty="0">
                <a:latin typeface="Times New Roman" panose="02020603050405020304" pitchFamily="18" charset="0"/>
                <a:cs typeface="Times New Roman" panose="02020603050405020304" pitchFamily="18" charset="0"/>
              </a:rPr>
              <a:t>• Searching and assessing alternative travel solutions.  </a:t>
            </a:r>
          </a:p>
          <a:p>
            <a:r>
              <a:rPr lang="en-US" dirty="0">
                <a:latin typeface="Times New Roman" panose="02020603050405020304" pitchFamily="18" charset="0"/>
                <a:cs typeface="Times New Roman" panose="02020603050405020304" pitchFamily="18" charset="0"/>
              </a:rPr>
              <a:t>• Choosing and justifying the best recovery solution.  </a:t>
            </a:r>
          </a:p>
          <a:p>
            <a:r>
              <a:rPr lang="en-US" dirty="0">
                <a:latin typeface="Times New Roman" panose="02020603050405020304" pitchFamily="18" charset="0"/>
                <a:cs typeface="Times New Roman" panose="02020603050405020304" pitchFamily="18" charset="0"/>
              </a:rPr>
              <a:t>• Creating a new travel itinerary with required actions.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2776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90AB-832F-E362-7BA6-90CFE79C61AB}"/>
            </a:ext>
          </a:extLst>
        </p:cNvPr>
        <p:cNvGrpSpPr/>
        <p:nvPr/>
      </p:nvGrpSpPr>
      <p:grpSpPr>
        <a:xfrm>
          <a:off x="0" y="0"/>
          <a:ext cx="0" cy="0"/>
          <a:chOff x="0" y="0"/>
          <a:chExt cx="0" cy="0"/>
        </a:xfrm>
      </p:grpSpPr>
      <p:sp>
        <p:nvSpPr>
          <p:cNvPr id="2" name="Google Shape;84;p4">
            <a:extLst>
              <a:ext uri="{FF2B5EF4-FFF2-40B4-BE49-F238E27FC236}">
                <a16:creationId xmlns:a16="http://schemas.microsoft.com/office/drawing/2014/main" id="{E6A1BBA5-5102-7EB3-8F77-84BC79861CE1}"/>
              </a:ext>
            </a:extLst>
          </p:cNvPr>
          <p:cNvSpPr txBox="1"/>
          <p:nvPr/>
        </p:nvSpPr>
        <p:spPr>
          <a:xfrm>
            <a:off x="513002" y="1092550"/>
            <a:ext cx="5142272" cy="7812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chemeClr val="dk1"/>
              </a:buClr>
              <a:buSzPts val="3700"/>
              <a:buFont typeface="Arial"/>
              <a:buNone/>
            </a:pPr>
            <a:r>
              <a:rPr lang="en-US" sz="3600" dirty="0">
                <a:solidFill>
                  <a:schemeClr val="dk1"/>
                </a:solidFill>
                <a:latin typeface="Times New Roman" panose="02020603050405020304" pitchFamily="18" charset="0"/>
                <a:cs typeface="Times New Roman" panose="02020603050405020304" pitchFamily="18" charset="0"/>
              </a:rPr>
              <a:t>Solution</a:t>
            </a:r>
            <a:r>
              <a:rPr lang="en-US" sz="3600" i="0" u="none" strike="noStrike" cap="none" dirty="0">
                <a:solidFill>
                  <a:schemeClr val="dk1"/>
                </a:solidFill>
                <a:latin typeface="Times New Roman" panose="02020603050405020304" pitchFamily="18" charset="0"/>
                <a:cs typeface="Times New Roman" panose="02020603050405020304" pitchFamily="18" charset="0"/>
                <a:sym typeface="Arial"/>
              </a:rPr>
              <a:t> Overview</a:t>
            </a:r>
            <a:endParaRPr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82862" y="1793900"/>
            <a:ext cx="10996136" cy="480131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 case of travel disruption, </a:t>
            </a:r>
            <a:r>
              <a:rPr lang="en-US" dirty="0" err="1">
                <a:latin typeface="Times New Roman" panose="02020603050405020304" pitchFamily="18" charset="0"/>
                <a:cs typeface="Times New Roman" panose="02020603050405020304" pitchFamily="18" charset="0"/>
              </a:rPr>
              <a:t>travellers</a:t>
            </a:r>
            <a:r>
              <a:rPr lang="en-US" dirty="0">
                <a:latin typeface="Times New Roman" panose="02020603050405020304" pitchFamily="18" charset="0"/>
                <a:cs typeface="Times New Roman" panose="02020603050405020304" pitchFamily="18" charset="0"/>
              </a:rPr>
              <a:t> usually need to:</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Research different sources for alternative flights, trains, or hotel options.</a:t>
            </a:r>
          </a:p>
          <a:p>
            <a:r>
              <a:rPr lang="en-US" dirty="0">
                <a:latin typeface="Times New Roman" panose="02020603050405020304" pitchFamily="18" charset="0"/>
                <a:cs typeface="Times New Roman" panose="02020603050405020304" pitchFamily="18" charset="0"/>
              </a:rPr>
              <a:t>- Compare prices, times, stops, and availability manually.</a:t>
            </a:r>
          </a:p>
          <a:p>
            <a:r>
              <a:rPr lang="en-US" dirty="0">
                <a:latin typeface="Times New Roman" panose="02020603050405020304" pitchFamily="18" charset="0"/>
                <a:cs typeface="Times New Roman" panose="02020603050405020304" pitchFamily="18" charset="0"/>
              </a:rPr>
              <a:t>- Re-plan linked trips like hotel stays and airport transfers.</a:t>
            </a:r>
          </a:p>
          <a:p>
            <a:r>
              <a:rPr lang="en-US" dirty="0">
                <a:latin typeface="Times New Roman" panose="02020603050405020304" pitchFamily="18" charset="0"/>
                <a:cs typeface="Times New Roman" panose="02020603050405020304" pitchFamily="18" charset="0"/>
              </a:rPr>
              <a:t>- Pick one constraint to drop off when there is no way to satisfy all.</a:t>
            </a:r>
          </a:p>
          <a:p>
            <a:r>
              <a:rPr lang="en-US" dirty="0">
                <a:latin typeface="Times New Roman" panose="02020603050405020304" pitchFamily="18" charset="0"/>
                <a:cs typeface="Times New Roman" panose="02020603050405020304" pitchFamily="18" charset="0"/>
              </a:rPr>
              <a:t>- Coordinate everything themselves.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The Key Issue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existing approach to solving travel disruptions tends to fix the disrupted trip itself but not to solve the overall </a:t>
            </a:r>
            <a:r>
              <a:rPr lang="en-US" dirty="0" err="1">
                <a:latin typeface="Times New Roman" panose="02020603050405020304" pitchFamily="18" charset="0"/>
                <a:cs typeface="Times New Roman" panose="02020603050405020304" pitchFamily="18" charset="0"/>
              </a:rPr>
              <a:t>traveller’s</a:t>
            </a:r>
            <a:r>
              <a:rPr lang="en-US" dirty="0">
                <a:latin typeface="Times New Roman" panose="02020603050405020304" pitchFamily="18" charset="0"/>
                <a:cs typeface="Times New Roman" panose="02020603050405020304" pitchFamily="18" charset="0"/>
              </a:rPr>
              <a:t> trip.</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The Opportunity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Develop an AI agent that can evaluate the </a:t>
            </a:r>
            <a:r>
              <a:rPr lang="en-US" b="1" dirty="0">
                <a:latin typeface="Times New Roman" panose="02020603050405020304" pitchFamily="18" charset="0"/>
                <a:cs typeface="Times New Roman" panose="02020603050405020304" pitchFamily="18" charset="0"/>
              </a:rPr>
              <a:t>disruption</a:t>
            </a:r>
            <a:r>
              <a:rPr lang="en-US" dirty="0">
                <a:latin typeface="Times New Roman" panose="02020603050405020304" pitchFamily="18" charset="0"/>
                <a:cs typeface="Times New Roman" panose="02020603050405020304" pitchFamily="18" charset="0"/>
              </a:rPr>
              <a:t>, its </a:t>
            </a:r>
            <a:r>
              <a:rPr lang="en-US" b="1" dirty="0">
                <a:latin typeface="Times New Roman" panose="02020603050405020304" pitchFamily="18" charset="0"/>
                <a:cs typeface="Times New Roman" panose="02020603050405020304" pitchFamily="18" charset="0"/>
              </a:rPr>
              <a:t>impact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on the rest of the trip</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compare alternatives</a:t>
            </a:r>
            <a:r>
              <a:rPr lang="en-US" dirty="0">
                <a:latin typeface="Times New Roman" panose="02020603050405020304" pitchFamily="18" charset="0"/>
                <a:cs typeface="Times New Roman" panose="02020603050405020304" pitchFamily="18" charset="0"/>
              </a:rPr>
              <a:t>, and build a </a:t>
            </a:r>
            <a:r>
              <a:rPr lang="en-US" b="1" dirty="0">
                <a:latin typeface="Times New Roman" panose="02020603050405020304" pitchFamily="18" charset="0"/>
                <a:cs typeface="Times New Roman" panose="02020603050405020304" pitchFamily="18" charset="0"/>
              </a:rPr>
              <a:t>disruption recovery plan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85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DC541-E33E-1BD0-4D52-FEAC2B7A5A4C}"/>
            </a:ext>
          </a:extLst>
        </p:cNvPr>
        <p:cNvGrpSpPr/>
        <p:nvPr/>
      </p:nvGrpSpPr>
      <p:grpSpPr>
        <a:xfrm>
          <a:off x="0" y="0"/>
          <a:ext cx="0" cy="0"/>
          <a:chOff x="0" y="0"/>
          <a:chExt cx="0" cy="0"/>
        </a:xfrm>
      </p:grpSpPr>
      <p:sp>
        <p:nvSpPr>
          <p:cNvPr id="2" name="Google Shape;84;p4">
            <a:extLst>
              <a:ext uri="{FF2B5EF4-FFF2-40B4-BE49-F238E27FC236}">
                <a16:creationId xmlns:a16="http://schemas.microsoft.com/office/drawing/2014/main" id="{027C4475-6DED-4BD0-5E94-D3A8F9799C9D}"/>
              </a:ext>
            </a:extLst>
          </p:cNvPr>
          <p:cNvSpPr txBox="1"/>
          <p:nvPr/>
        </p:nvSpPr>
        <p:spPr>
          <a:xfrm>
            <a:off x="426064" y="1081399"/>
            <a:ext cx="5142272" cy="7812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chemeClr val="dk1"/>
              </a:buClr>
              <a:buSzPts val="3700"/>
              <a:buFont typeface="Arial"/>
              <a:buNone/>
            </a:pPr>
            <a:endParaRPr dirty="0"/>
          </a:p>
        </p:txBody>
      </p:sp>
      <p:sp>
        <p:nvSpPr>
          <p:cNvPr id="4" name="TextBox 3">
            <a:extLst>
              <a:ext uri="{FF2B5EF4-FFF2-40B4-BE49-F238E27FC236}">
                <a16:creationId xmlns:a16="http://schemas.microsoft.com/office/drawing/2014/main" id="{654B44F4-F393-80C9-AE36-6E4F0382507F}"/>
              </a:ext>
            </a:extLst>
          </p:cNvPr>
          <p:cNvSpPr txBox="1"/>
          <p:nvPr/>
        </p:nvSpPr>
        <p:spPr>
          <a:xfrm>
            <a:off x="426064" y="1216335"/>
            <a:ext cx="6096000" cy="646331"/>
          </a:xfrm>
          <a:prstGeom prst="rect">
            <a:avLst/>
          </a:prstGeom>
          <a:noFill/>
        </p:spPr>
        <p:txBody>
          <a:bodyPr wrap="square">
            <a:spAutoFit/>
          </a:bodyPr>
          <a:lstStyle/>
          <a:p>
            <a:r>
              <a:rPr lang="en-US" sz="3600" dirty="0">
                <a:solidFill>
                  <a:srgbClr val="000000"/>
                </a:solidFill>
                <a:latin typeface="Times New Roman" panose="02020603050405020304" pitchFamily="18" charset="0"/>
                <a:ea typeface="Arial"/>
                <a:cs typeface="Times New Roman" panose="02020603050405020304" pitchFamily="18" charset="0"/>
                <a:sym typeface="Arial"/>
              </a:rPr>
              <a:t>Technical Approach</a:t>
            </a:r>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92253" y="2241420"/>
            <a:ext cx="7112414" cy="4093428"/>
          </a:xfrm>
          <a:prstGeom prst="rect">
            <a:avLst/>
          </a:prstGeom>
          <a:noFill/>
        </p:spPr>
        <p:txBody>
          <a:bodyPr wrap="square" rtlCol="0">
            <a:spAutoFit/>
          </a:bodyPr>
          <a:lstStyle/>
          <a:p>
            <a:pPr lvl="0"/>
            <a:r>
              <a:rPr lang="en-US" sz="2000" b="1" dirty="0">
                <a:latin typeface="Times New Roman" panose="02020603050405020304" pitchFamily="18" charset="0"/>
                <a:cs typeface="Times New Roman" panose="02020603050405020304" pitchFamily="18" charset="0"/>
              </a:rPr>
              <a:t>Frontend — React + Tailwind CSS</a:t>
            </a:r>
          </a:p>
          <a:p>
            <a:pPr lvl="0"/>
            <a:endParaRPr lang="en-US" sz="2000" dirty="0">
              <a:latin typeface="Times New Roman" panose="02020603050405020304" pitchFamily="18" charset="0"/>
              <a:cs typeface="Times New Roman" panose="02020603050405020304" pitchFamily="18" charset="0"/>
            </a:endParaRPr>
          </a:p>
          <a:p>
            <a:pPr lvl="0"/>
            <a:endParaRPr lang="en-US" sz="2000" dirty="0">
              <a:latin typeface="Times New Roman" panose="02020603050405020304" pitchFamily="18" charset="0"/>
              <a:cs typeface="Times New Roman" panose="02020603050405020304" pitchFamily="18" charset="0"/>
            </a:endParaRPr>
          </a:p>
          <a:p>
            <a:pPr lvl="0"/>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Backend — Node.js + Express</a:t>
            </a:r>
          </a:p>
          <a:p>
            <a:pPr lvl="0"/>
            <a:endParaRPr lang="en-US" sz="2000" dirty="0">
              <a:latin typeface="Times New Roman" panose="02020603050405020304" pitchFamily="18" charset="0"/>
              <a:cs typeface="Times New Roman" panose="02020603050405020304" pitchFamily="18" charset="0"/>
            </a:endParaRPr>
          </a:p>
          <a:p>
            <a:pPr lvl="0"/>
            <a:endParaRPr lang="en-US" sz="2000" dirty="0">
              <a:latin typeface="Times New Roman" panose="02020603050405020304" pitchFamily="18" charset="0"/>
              <a:cs typeface="Times New Roman" panose="02020603050405020304" pitchFamily="18" charset="0"/>
            </a:endParaRPr>
          </a:p>
          <a:p>
            <a:pPr lvl="0"/>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AI Agent — LLM + Agentic Workflow</a:t>
            </a:r>
          </a:p>
          <a:p>
            <a:pPr lvl="0"/>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Database — MySQL</a:t>
            </a:r>
          </a:p>
          <a:p>
            <a:pPr lvl="0"/>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Decision Engine — Constraint &amp; Disruption Scoring</a:t>
            </a: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106F8AA-6EF1-BFED-AADE-9593FC825795}"/>
              </a:ext>
            </a:extLst>
          </p:cNvPr>
          <p:cNvPicPr>
            <a:picLocks noChangeAspect="1"/>
          </p:cNvPicPr>
          <p:nvPr/>
        </p:nvPicPr>
        <p:blipFill>
          <a:blip r:embed="rId2"/>
          <a:stretch>
            <a:fillRect/>
          </a:stretch>
        </p:blipFill>
        <p:spPr>
          <a:xfrm>
            <a:off x="2016485" y="2643323"/>
            <a:ext cx="668866" cy="668866"/>
          </a:xfrm>
          <a:prstGeom prst="rect">
            <a:avLst/>
          </a:prstGeom>
        </p:spPr>
      </p:pic>
      <p:pic>
        <p:nvPicPr>
          <p:cNvPr id="9" name="Picture 8" descr="Tailwindcss PNG Logo — Download Free Transparent Logo">
            <a:extLst>
              <a:ext uri="{FF2B5EF4-FFF2-40B4-BE49-F238E27FC236}">
                <a16:creationId xmlns:a16="http://schemas.microsoft.com/office/drawing/2014/main" id="{3866197E-4B45-2CDF-F3BD-4125C0743745}"/>
              </a:ext>
            </a:extLst>
          </p:cNvPr>
          <p:cNvPicPr>
            <a:picLocks noChangeAspect="1"/>
          </p:cNvPicPr>
          <p:nvPr/>
        </p:nvPicPr>
        <p:blipFill>
          <a:blip r:embed="rId3"/>
          <a:srcRect t="34717" b="35471"/>
          <a:stretch>
            <a:fillRect/>
          </a:stretch>
        </p:blipFill>
        <p:spPr>
          <a:xfrm>
            <a:off x="2997200" y="2677073"/>
            <a:ext cx="1510625" cy="450337"/>
          </a:xfrm>
          <a:prstGeom prst="rect">
            <a:avLst/>
          </a:prstGeom>
        </p:spPr>
      </p:pic>
      <p:pic>
        <p:nvPicPr>
          <p:cNvPr id="10" name="Graphic 9" descr="Node.js - Wikipedia">
            <a:extLst>
              <a:ext uri="{FF2B5EF4-FFF2-40B4-BE49-F238E27FC236}">
                <a16:creationId xmlns:a16="http://schemas.microsoft.com/office/drawing/2014/main" id="{56C47F18-8A25-8B4F-910C-195C6B5C35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4997" y="3867574"/>
            <a:ext cx="1268941" cy="776420"/>
          </a:xfrm>
          <a:prstGeom prst="rect">
            <a:avLst/>
          </a:prstGeom>
        </p:spPr>
      </p:pic>
      <p:pic>
        <p:nvPicPr>
          <p:cNvPr id="11" name="Picture 10" descr="Express.js Tutorial for Beginners | Learn Express Fundamentals | Edureka">
            <a:extLst>
              <a:ext uri="{FF2B5EF4-FFF2-40B4-BE49-F238E27FC236}">
                <a16:creationId xmlns:a16="http://schemas.microsoft.com/office/drawing/2014/main" id="{2A02A36B-24AB-8E7E-C350-5604CC3B8E35}"/>
              </a:ext>
            </a:extLst>
          </p:cNvPr>
          <p:cNvPicPr>
            <a:picLocks noChangeAspect="1"/>
          </p:cNvPicPr>
          <p:nvPr/>
        </p:nvPicPr>
        <p:blipFill>
          <a:blip r:embed="rId5"/>
          <a:srcRect b="21443"/>
          <a:stretch>
            <a:fillRect/>
          </a:stretch>
        </p:blipFill>
        <p:spPr>
          <a:xfrm>
            <a:off x="2997200" y="3867574"/>
            <a:ext cx="2015712" cy="718457"/>
          </a:xfrm>
          <a:prstGeom prst="rect">
            <a:avLst/>
          </a:prstGeom>
        </p:spPr>
      </p:pic>
      <p:pic>
        <p:nvPicPr>
          <p:cNvPr id="12" name="Picture 11" descr="What is MySQL? | OVHcloud India">
            <a:extLst>
              <a:ext uri="{FF2B5EF4-FFF2-40B4-BE49-F238E27FC236}">
                <a16:creationId xmlns:a16="http://schemas.microsoft.com/office/drawing/2014/main" id="{FE21DA87-E121-0744-E1A8-82533263E686}"/>
              </a:ext>
            </a:extLst>
          </p:cNvPr>
          <p:cNvPicPr>
            <a:picLocks noChangeAspect="1"/>
          </p:cNvPicPr>
          <p:nvPr/>
        </p:nvPicPr>
        <p:blipFill>
          <a:blip r:embed="rId6"/>
          <a:stretch>
            <a:fillRect/>
          </a:stretch>
        </p:blipFill>
        <p:spPr>
          <a:xfrm>
            <a:off x="2997200" y="5101211"/>
            <a:ext cx="1676399" cy="718457"/>
          </a:xfrm>
          <a:prstGeom prst="rect">
            <a:avLst/>
          </a:prstGeom>
        </p:spPr>
      </p:pic>
    </p:spTree>
    <p:extLst>
      <p:ext uri="{BB962C8B-B14F-4D97-AF65-F5344CB8AC3E}">
        <p14:creationId xmlns:p14="http://schemas.microsoft.com/office/powerpoint/2010/main" val="2545333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73624-F1EE-D456-37F4-90DA5A193A4C}"/>
            </a:ext>
          </a:extLst>
        </p:cNvPr>
        <p:cNvGrpSpPr/>
        <p:nvPr/>
      </p:nvGrpSpPr>
      <p:grpSpPr>
        <a:xfrm>
          <a:off x="0" y="0"/>
          <a:ext cx="0" cy="0"/>
          <a:chOff x="0" y="0"/>
          <a:chExt cx="0" cy="0"/>
        </a:xfrm>
      </p:grpSpPr>
      <p:sp>
        <p:nvSpPr>
          <p:cNvPr id="2" name="Google Shape;84;p4">
            <a:extLst>
              <a:ext uri="{FF2B5EF4-FFF2-40B4-BE49-F238E27FC236}">
                <a16:creationId xmlns:a16="http://schemas.microsoft.com/office/drawing/2014/main" id="{90627355-C2F3-1FFD-E8E4-ECFD36F9EDE9}"/>
              </a:ext>
            </a:extLst>
          </p:cNvPr>
          <p:cNvSpPr txBox="1"/>
          <p:nvPr/>
        </p:nvSpPr>
        <p:spPr>
          <a:xfrm>
            <a:off x="426064" y="1081399"/>
            <a:ext cx="5142272" cy="7812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chemeClr val="dk1"/>
              </a:buClr>
              <a:buSzPts val="3700"/>
              <a:buFont typeface="Arial"/>
              <a:buNone/>
            </a:pPr>
            <a:endParaRPr dirty="0"/>
          </a:p>
        </p:txBody>
      </p:sp>
      <p:sp>
        <p:nvSpPr>
          <p:cNvPr id="5" name="TextBox 4">
            <a:extLst>
              <a:ext uri="{FF2B5EF4-FFF2-40B4-BE49-F238E27FC236}">
                <a16:creationId xmlns:a16="http://schemas.microsoft.com/office/drawing/2014/main" id="{C87DA482-6290-5E27-AD1D-A4C01BD5AF93}"/>
              </a:ext>
            </a:extLst>
          </p:cNvPr>
          <p:cNvSpPr txBox="1"/>
          <p:nvPr/>
        </p:nvSpPr>
        <p:spPr>
          <a:xfrm>
            <a:off x="426064" y="1081399"/>
            <a:ext cx="6096000" cy="646331"/>
          </a:xfrm>
          <a:prstGeom prst="rect">
            <a:avLst/>
          </a:prstGeom>
          <a:noFill/>
        </p:spPr>
        <p:txBody>
          <a:bodyPr wrap="square">
            <a:spAutoFit/>
          </a:bodyPr>
          <a:lstStyle/>
          <a:p>
            <a:r>
              <a:rPr lang="en-IN" sz="3600" b="0" i="0" u="none" strike="noStrike" dirty="0">
                <a:solidFill>
                  <a:srgbClr val="000000"/>
                </a:solidFill>
                <a:effectLst/>
                <a:latin typeface="Times New Roman" panose="02020603050405020304" pitchFamily="18" charset="0"/>
                <a:cs typeface="Times New Roman" panose="02020603050405020304" pitchFamily="18" charset="0"/>
              </a:rPr>
              <a:t>Diagrams/Flow</a:t>
            </a:r>
            <a:r>
              <a:rPr lang="en-IN" sz="3200" b="0" i="0" u="none" strike="noStrike" dirty="0">
                <a:solidFill>
                  <a:srgbClr val="000000"/>
                </a:solidFill>
                <a:effectLst/>
                <a:latin typeface="Times New Roman" panose="02020603050405020304" pitchFamily="18" charset="0"/>
                <a:cs typeface="Times New Roman" panose="02020603050405020304" pitchFamily="18" charset="0"/>
              </a:rPr>
              <a:t> </a:t>
            </a:r>
            <a:r>
              <a:rPr lang="en-IN" sz="3600" b="0" i="0" u="none" strike="noStrike" dirty="0">
                <a:solidFill>
                  <a:srgbClr val="000000"/>
                </a:solidFill>
                <a:effectLst/>
                <a:latin typeface="Times New Roman" panose="02020603050405020304" pitchFamily="18" charset="0"/>
                <a:cs typeface="Times New Roman" panose="02020603050405020304" pitchFamily="18" charset="0"/>
              </a:rPr>
              <a:t>Charts/Visuals</a:t>
            </a:r>
            <a:endParaRPr lang="en-US" sz="3600" dirty="0"/>
          </a:p>
        </p:txBody>
      </p:sp>
      <p:pic>
        <p:nvPicPr>
          <p:cNvPr id="8" name="Picture 7">
            <a:extLst>
              <a:ext uri="{FF2B5EF4-FFF2-40B4-BE49-F238E27FC236}">
                <a16:creationId xmlns:a16="http://schemas.microsoft.com/office/drawing/2014/main" id="{9E4E4F46-7F4B-0DEA-1C65-9045A68C9D19}"/>
              </a:ext>
            </a:extLst>
          </p:cNvPr>
          <p:cNvPicPr>
            <a:picLocks noChangeAspect="1"/>
          </p:cNvPicPr>
          <p:nvPr/>
        </p:nvPicPr>
        <p:blipFill>
          <a:blip r:embed="rId2"/>
          <a:stretch>
            <a:fillRect/>
          </a:stretch>
        </p:blipFill>
        <p:spPr>
          <a:xfrm>
            <a:off x="426064" y="1825975"/>
            <a:ext cx="7653867" cy="4902312"/>
          </a:xfrm>
          <a:prstGeom prst="rect">
            <a:avLst/>
          </a:prstGeom>
        </p:spPr>
      </p:pic>
    </p:spTree>
    <p:extLst>
      <p:ext uri="{BB962C8B-B14F-4D97-AF65-F5344CB8AC3E}">
        <p14:creationId xmlns:p14="http://schemas.microsoft.com/office/powerpoint/2010/main" val="807085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3A331-13DE-013E-7CE5-1D60264959DE}"/>
            </a:ext>
          </a:extLst>
        </p:cNvPr>
        <p:cNvGrpSpPr/>
        <p:nvPr/>
      </p:nvGrpSpPr>
      <p:grpSpPr>
        <a:xfrm>
          <a:off x="0" y="0"/>
          <a:ext cx="0" cy="0"/>
          <a:chOff x="0" y="0"/>
          <a:chExt cx="0" cy="0"/>
        </a:xfrm>
      </p:grpSpPr>
      <p:sp>
        <p:nvSpPr>
          <p:cNvPr id="2" name="Google Shape;84;p4">
            <a:extLst>
              <a:ext uri="{FF2B5EF4-FFF2-40B4-BE49-F238E27FC236}">
                <a16:creationId xmlns:a16="http://schemas.microsoft.com/office/drawing/2014/main" id="{5437EC85-4BDF-0688-80E6-14EF8B299198}"/>
              </a:ext>
            </a:extLst>
          </p:cNvPr>
          <p:cNvSpPr txBox="1"/>
          <p:nvPr/>
        </p:nvSpPr>
        <p:spPr>
          <a:xfrm>
            <a:off x="426064" y="1081399"/>
            <a:ext cx="5142272" cy="7812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chemeClr val="dk1"/>
              </a:buClr>
              <a:buSzPts val="3700"/>
              <a:buFont typeface="Arial"/>
              <a:buNone/>
            </a:pPr>
            <a:endParaRPr dirty="0"/>
          </a:p>
        </p:txBody>
      </p:sp>
      <p:sp>
        <p:nvSpPr>
          <p:cNvPr id="4" name="TextBox 3">
            <a:extLst>
              <a:ext uri="{FF2B5EF4-FFF2-40B4-BE49-F238E27FC236}">
                <a16:creationId xmlns:a16="http://schemas.microsoft.com/office/drawing/2014/main" id="{1043D8A4-0880-4ECB-534C-424E03C8C99A}"/>
              </a:ext>
            </a:extLst>
          </p:cNvPr>
          <p:cNvSpPr txBox="1"/>
          <p:nvPr/>
        </p:nvSpPr>
        <p:spPr>
          <a:xfrm>
            <a:off x="426064" y="1216335"/>
            <a:ext cx="6096000" cy="646331"/>
          </a:xfrm>
          <a:prstGeom prst="rect">
            <a:avLst/>
          </a:prstGeom>
          <a:noFill/>
        </p:spPr>
        <p:txBody>
          <a:bodyPr wrap="square">
            <a:spAutoFit/>
          </a:bodyPr>
          <a:lstStyle/>
          <a:p>
            <a:r>
              <a:rPr lang="en-US" sz="3600" dirty="0">
                <a:solidFill>
                  <a:srgbClr val="000000"/>
                </a:solidFill>
                <a:latin typeface="Times New Roman" panose="02020603050405020304" pitchFamily="18" charset="0"/>
                <a:ea typeface="Arial"/>
                <a:cs typeface="Times New Roman" panose="02020603050405020304" pitchFamily="18" charset="0"/>
                <a:sym typeface="Arial"/>
              </a:rPr>
              <a:t>Impacts and Benefits</a:t>
            </a:r>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26064" y="1997602"/>
            <a:ext cx="11765936" cy="397031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For Travelers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Faster recovery: Transforms a disruption into a recovery plan in seconds.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Effort savings: Automatically compares various alternatives instead of manually searching them.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Customized decision: Takes into account budget, arrival time, stops, destination, </a:t>
            </a:r>
            <a:r>
              <a:rPr lang="en-US" dirty="0" err="1">
                <a:latin typeface="Times New Roman" panose="02020603050405020304" pitchFamily="18" charset="0"/>
                <a:cs typeface="Times New Roman" panose="02020603050405020304" pitchFamily="18" charset="0"/>
              </a:rPr>
              <a:t>traveller</a:t>
            </a:r>
            <a:r>
              <a:rPr lang="en-US" dirty="0">
                <a:latin typeface="Times New Roman" panose="02020603050405020304" pitchFamily="18" charset="0"/>
                <a:cs typeface="Times New Roman" panose="02020603050405020304" pitchFamily="18" charset="0"/>
              </a:rPr>
              <a:t> preferences.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Minimizing cascading effect: Detects any conflict with related bookings like hotels and transfers.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Transparency of suggestions: Explains which alternative is chosen and why others are not.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For Travelers &amp; Service Providers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Automation of disruptions management: Eliminates repeated manual work with common disruption scenarios.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Consistency of decisions: Systematically uses predefined constraints and rules of recovering from a disruption.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Visibility: Gives an overall picture of affected bookings and necessary actions.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Overall Effect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From “My trip is disrupted” → “This is my recovery plan and exactly what I have to do.”</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3420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97F16-0625-BC75-194D-E49E56DD3193}"/>
            </a:ext>
          </a:extLst>
        </p:cNvPr>
        <p:cNvGrpSpPr/>
        <p:nvPr/>
      </p:nvGrpSpPr>
      <p:grpSpPr>
        <a:xfrm>
          <a:off x="0" y="0"/>
          <a:ext cx="0" cy="0"/>
          <a:chOff x="0" y="0"/>
          <a:chExt cx="0" cy="0"/>
        </a:xfrm>
      </p:grpSpPr>
      <p:sp>
        <p:nvSpPr>
          <p:cNvPr id="2" name="Google Shape;84;p4">
            <a:extLst>
              <a:ext uri="{FF2B5EF4-FFF2-40B4-BE49-F238E27FC236}">
                <a16:creationId xmlns:a16="http://schemas.microsoft.com/office/drawing/2014/main" id="{345A71A9-0BB3-35CD-CD85-0E7B45F02E66}"/>
              </a:ext>
            </a:extLst>
          </p:cNvPr>
          <p:cNvSpPr txBox="1"/>
          <p:nvPr/>
        </p:nvSpPr>
        <p:spPr>
          <a:xfrm>
            <a:off x="426064" y="1081399"/>
            <a:ext cx="5142272" cy="7812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chemeClr val="dk1"/>
              </a:buClr>
              <a:buSzPts val="3700"/>
              <a:buFont typeface="Arial"/>
              <a:buNone/>
            </a:pPr>
            <a:endParaRPr dirty="0"/>
          </a:p>
        </p:txBody>
      </p:sp>
      <p:sp>
        <p:nvSpPr>
          <p:cNvPr id="4" name="TextBox 3">
            <a:extLst>
              <a:ext uri="{FF2B5EF4-FFF2-40B4-BE49-F238E27FC236}">
                <a16:creationId xmlns:a16="http://schemas.microsoft.com/office/drawing/2014/main" id="{1DA5D6F0-330B-09CD-C183-848CB10A9C20}"/>
              </a:ext>
            </a:extLst>
          </p:cNvPr>
          <p:cNvSpPr txBox="1"/>
          <p:nvPr/>
        </p:nvSpPr>
        <p:spPr>
          <a:xfrm>
            <a:off x="426064" y="992879"/>
            <a:ext cx="7658570" cy="646331"/>
          </a:xfrm>
          <a:prstGeom prst="rect">
            <a:avLst/>
          </a:prstGeom>
          <a:noFill/>
        </p:spPr>
        <p:txBody>
          <a:bodyPr wrap="square">
            <a:spAutoFit/>
          </a:bodyPr>
          <a:lstStyle/>
          <a:p>
            <a:r>
              <a:rPr lang="en-US" sz="3600" dirty="0">
                <a:solidFill>
                  <a:srgbClr val="000000"/>
                </a:solidFill>
                <a:latin typeface="Times New Roman" panose="02020603050405020304" pitchFamily="18" charset="0"/>
                <a:cs typeface="Times New Roman" panose="02020603050405020304" pitchFamily="18" charset="0"/>
                <a:sym typeface="Arial"/>
              </a:rPr>
              <a:t>Business</a:t>
            </a:r>
            <a:r>
              <a:rPr lang="en-US" sz="3600" dirty="0">
                <a:solidFill>
                  <a:srgbClr val="000000"/>
                </a:solidFill>
                <a:latin typeface="Arial"/>
                <a:cs typeface="Arial"/>
                <a:sym typeface="Arial"/>
              </a:rPr>
              <a:t> </a:t>
            </a:r>
            <a:r>
              <a:rPr lang="en-US" sz="3600" dirty="0">
                <a:solidFill>
                  <a:srgbClr val="000000"/>
                </a:solidFill>
                <a:latin typeface="Times New Roman" panose="02020603050405020304" pitchFamily="18" charset="0"/>
                <a:cs typeface="Times New Roman" panose="02020603050405020304" pitchFamily="18" charset="0"/>
                <a:sym typeface="Arial"/>
              </a:rPr>
              <a:t>Impact &amp; Scalability</a:t>
            </a:r>
            <a:endParaRPr lang="en-US"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26064" y="1639210"/>
            <a:ext cx="11765936" cy="520142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Value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Business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efforts involved by automating disruption detection, alternative evaluation, and recovery planning.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efforts needed to provide </a:t>
            </a:r>
            <a:r>
              <a:rPr lang="en-US" dirty="0" err="1">
                <a:latin typeface="Times New Roman" panose="02020603050405020304" pitchFamily="18" charset="0"/>
                <a:cs typeface="Times New Roman" panose="02020603050405020304" pitchFamily="18" charset="0"/>
              </a:rPr>
              <a:t>traveller</a:t>
            </a:r>
            <a:r>
              <a:rPr lang="en-US" dirty="0">
                <a:latin typeface="Times New Roman" panose="02020603050405020304" pitchFamily="18" charset="0"/>
                <a:cs typeface="Times New Roman" panose="02020603050405020304" pitchFamily="18" charset="0"/>
              </a:rPr>
              <a:t> support by offering self-service recovery advice.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customer experience by providing fast and personal disruption resolution.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an extra layer of services for airlines, travel agencies, OTAs, railway operators and corporate travel services.</a:t>
            </a:r>
          </a:p>
          <a:p>
            <a:endParaRPr lang="en-US" sz="105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Market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Potential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product will address the overall **travel disruption management market** where airlines, rail operators, hotels, travel agencies and corporate travel services require to manage their delays, cancellations, or itinerary changes.</a:t>
            </a:r>
          </a:p>
          <a:p>
            <a:endParaRPr lang="en-US" sz="105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Scalability</a:t>
            </a:r>
          </a:p>
          <a:p>
            <a:pPr marL="285750" indent="-285750">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a:t>
            </a:r>
            <a:r>
              <a:rPr lang="en-US" dirty="0" err="1">
                <a:latin typeface="Times New Roman" panose="02020603050405020304" pitchFamily="18" charset="0"/>
                <a:cs typeface="Times New Roman" panose="02020603050405020304" pitchFamily="18" charset="0"/>
              </a:rPr>
              <a:t>Travellers</a:t>
            </a:r>
            <a:r>
              <a:rPr lang="en-US" dirty="0">
                <a:latin typeface="Times New Roman" panose="02020603050405020304" pitchFamily="18" charset="0"/>
                <a:cs typeface="Times New Roman" panose="02020603050405020304" pitchFamily="18" charset="0"/>
              </a:rPr>
              <a:t> → Corporate </a:t>
            </a:r>
            <a:r>
              <a:rPr lang="en-US" dirty="0" err="1">
                <a:latin typeface="Times New Roman" panose="02020603050405020304" pitchFamily="18" charset="0"/>
                <a:cs typeface="Times New Roman" panose="02020603050405020304" pitchFamily="18" charset="0"/>
              </a:rPr>
              <a:t>travellers</a:t>
            </a:r>
            <a:r>
              <a:rPr lang="en-US" dirty="0">
                <a:latin typeface="Times New Roman" panose="02020603050405020304" pitchFamily="18" charset="0"/>
                <a:cs typeface="Times New Roman" panose="02020603050405020304" pitchFamily="18" charset="0"/>
              </a:rPr>
              <a:t> → Big travel platforms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Locations: One city → Countrywide → Worldwide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Transport: Flights → Trains → Bus → Multimodal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Cases: Delay → Cancellation → Missed connection → Weather disruption → Hotel/Transfer conflicts</a:t>
            </a:r>
          </a:p>
          <a:p>
            <a:pPr marL="285750" indent="-2857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Vision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Future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One AI recovery layer that will connect to multiple travel service providers and will automate the process of recovery throughout the whole journey.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1998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97F16-0625-BC75-194D-E49E56DD3193}"/>
            </a:ext>
          </a:extLst>
        </p:cNvPr>
        <p:cNvGrpSpPr/>
        <p:nvPr/>
      </p:nvGrpSpPr>
      <p:grpSpPr>
        <a:xfrm>
          <a:off x="0" y="0"/>
          <a:ext cx="0" cy="0"/>
          <a:chOff x="0" y="0"/>
          <a:chExt cx="0" cy="0"/>
        </a:xfrm>
      </p:grpSpPr>
      <p:sp>
        <p:nvSpPr>
          <p:cNvPr id="2" name="Google Shape;84;p4">
            <a:extLst>
              <a:ext uri="{FF2B5EF4-FFF2-40B4-BE49-F238E27FC236}">
                <a16:creationId xmlns:a16="http://schemas.microsoft.com/office/drawing/2014/main" id="{345A71A9-0BB3-35CD-CD85-0E7B45F02E66}"/>
              </a:ext>
            </a:extLst>
          </p:cNvPr>
          <p:cNvSpPr txBox="1"/>
          <p:nvPr/>
        </p:nvSpPr>
        <p:spPr>
          <a:xfrm>
            <a:off x="426064" y="1081399"/>
            <a:ext cx="5142272" cy="78126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chemeClr val="dk1"/>
              </a:buClr>
              <a:buSzPts val="3700"/>
              <a:buFont typeface="Arial"/>
              <a:buNone/>
            </a:pPr>
            <a:endParaRPr dirty="0"/>
          </a:p>
        </p:txBody>
      </p:sp>
      <p:sp>
        <p:nvSpPr>
          <p:cNvPr id="4" name="TextBox 3">
            <a:extLst>
              <a:ext uri="{FF2B5EF4-FFF2-40B4-BE49-F238E27FC236}">
                <a16:creationId xmlns:a16="http://schemas.microsoft.com/office/drawing/2014/main" id="{1DA5D6F0-330B-09CD-C183-848CB10A9C20}"/>
              </a:ext>
            </a:extLst>
          </p:cNvPr>
          <p:cNvSpPr txBox="1"/>
          <p:nvPr/>
        </p:nvSpPr>
        <p:spPr>
          <a:xfrm>
            <a:off x="515274" y="1148866"/>
            <a:ext cx="7658570" cy="646331"/>
          </a:xfrm>
          <a:prstGeom prst="rect">
            <a:avLst/>
          </a:prstGeom>
          <a:noFill/>
        </p:spPr>
        <p:txBody>
          <a:bodyPr wrap="square">
            <a:spAutoFit/>
          </a:bodyPr>
          <a:lstStyle/>
          <a:p>
            <a:r>
              <a:rPr lang="en-US" sz="3600" dirty="0">
                <a:latin typeface="Times New Roman" panose="02020603050405020304" pitchFamily="18" charset="0"/>
                <a:cs typeface="Times New Roman" panose="02020603050405020304" pitchFamily="18" charset="0"/>
              </a:rPr>
              <a:t>Additional links</a:t>
            </a:r>
          </a:p>
        </p:txBody>
      </p:sp>
      <p:sp>
        <p:nvSpPr>
          <p:cNvPr id="3" name="TextBox 2"/>
          <p:cNvSpPr txBox="1"/>
          <p:nvPr/>
        </p:nvSpPr>
        <p:spPr>
          <a:xfrm>
            <a:off x="515274" y="1930133"/>
            <a:ext cx="5508702" cy="258532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GitHub Repo link</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Demo Video Link (YouTube or Google Drive, maximum duration: 4 minutes)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Deployment link ( optional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87027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374</TotalTime>
  <Words>703</Words>
  <Application>Microsoft Office PowerPoint</Application>
  <PresentationFormat>Widescreen</PresentationFormat>
  <Paragraphs>91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Sathvik Shetty</dc:creator>
  <cp:lastModifiedBy>Shreesha 05</cp:lastModifiedBy>
  <cp:revision>18</cp:revision>
  <dcterms:created xsi:type="dcterms:W3CDTF">2026-09-21T14:59:39Z</dcterms:created>
  <dcterms:modified xsi:type="dcterms:W3CDTF">2026-10-23T17:47:53Z</dcterms:modified>
</cp:coreProperties>
</file>